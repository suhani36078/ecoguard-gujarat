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83" r:id="rId2"/>
    <p:sldId id="257" r:id="rId3"/>
    <p:sldId id="282" r:id="rId4"/>
    <p:sldId id="285" r:id="rId5"/>
    <p:sldId id="290" r:id="rId6"/>
    <p:sldId id="292" r:id="rId7"/>
    <p:sldId id="291" r:id="rId8"/>
    <p:sldId id="293" r:id="rId9"/>
    <p:sldId id="294" r:id="rId10"/>
    <p:sldId id="295" r:id="rId11"/>
    <p:sldId id="312" r:id="rId12"/>
    <p:sldId id="296" r:id="rId13"/>
    <p:sldId id="297" r:id="rId14"/>
    <p:sldId id="298" r:id="rId15"/>
    <p:sldId id="299" r:id="rId16"/>
    <p:sldId id="300" r:id="rId17"/>
    <p:sldId id="311" r:id="rId18"/>
    <p:sldId id="301" r:id="rId19"/>
    <p:sldId id="302" r:id="rId20"/>
    <p:sldId id="303" r:id="rId21"/>
    <p:sldId id="304" r:id="rId22"/>
    <p:sldId id="306" r:id="rId23"/>
    <p:sldId id="305" r:id="rId24"/>
    <p:sldId id="307" r:id="rId25"/>
    <p:sldId id="310" r:id="rId26"/>
    <p:sldId id="309" r:id="rId27"/>
    <p:sldId id="278" r:id="rId28"/>
    <p:sldId id="281" r:id="rId29"/>
    <p:sldId id="279" r:id="rId30"/>
    <p:sldId id="262" r:id="rId31"/>
    <p:sldId id="264" r:id="rId32"/>
    <p:sldId id="277" r:id="rId33"/>
    <p:sldId id="286" r:id="rId34"/>
    <p:sldId id="287" r:id="rId35"/>
    <p:sldId id="280" r:id="rId36"/>
    <p:sldId id="288" r:id="rId37"/>
    <p:sldId id="289" r:id="rId38"/>
    <p:sldId id="276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CDCB8-E336-06C9-9BC1-C212CD122CD0}" v="1" dt="2026-06-23T04:41:50.19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141" autoAdjust="0"/>
  </p:normalViewPr>
  <p:slideViewPr>
    <p:cSldViewPr snapToGrid="0">
      <p:cViewPr>
        <p:scale>
          <a:sx n="40" d="100"/>
          <a:sy n="40" d="100"/>
        </p:scale>
        <p:origin x="166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-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hyperlink" Target="https://github.com/suhani36078/EcoGuard-Gujarat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645920"/>
            <a:ext cx="10241280" cy="1280160"/>
          </a:xfrm>
        </p:spPr>
        <p:txBody>
          <a:bodyPr wrap="square">
            <a:normAutofit/>
          </a:bodyPr>
          <a:lstStyle/>
          <a:p>
            <a:pPr algn="ctr">
              <a:defRPr sz="3400" b="1">
                <a:latin typeface="Arial"/>
              </a:defRPr>
            </a:pPr>
            <a:r>
              <a:rPr dirty="0" err="1">
                <a:solidFill>
                  <a:schemeClr val="accent1"/>
                </a:solidFill>
              </a:rPr>
              <a:t>EcoGuard</a:t>
            </a:r>
            <a:r>
              <a:rPr dirty="0">
                <a:solidFill>
                  <a:schemeClr val="accent1"/>
                </a:solidFill>
              </a:rPr>
              <a:t> Gujarat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3154680"/>
            <a:ext cx="9875520" cy="1188720"/>
          </a:xfrm>
        </p:spPr>
        <p:txBody>
          <a:bodyPr wrap="square"/>
          <a:lstStyle/>
          <a:p>
            <a:pPr algn="ctr">
              <a:defRPr sz="2000" b="1">
                <a:latin typeface="Arial"/>
              </a:defRPr>
            </a:pPr>
            <a:r>
              <a:rPr dirty="0">
                <a:solidFill>
                  <a:schemeClr val="accent4">
                    <a:lumMod val="75000"/>
                  </a:schemeClr>
                </a:solidFill>
              </a:rPr>
              <a:t>Agentic AI for Industrial Pollution Intelligence</a:t>
            </a:r>
            <a:br>
              <a:rPr dirty="0">
                <a:solidFill>
                  <a:schemeClr val="accent4">
                    <a:lumMod val="75000"/>
                  </a:schemeClr>
                </a:solidFill>
              </a:rPr>
            </a:br>
            <a:r>
              <a:rPr dirty="0">
                <a:solidFill>
                  <a:schemeClr val="accent4">
                    <a:lumMod val="75000"/>
                  </a:schemeClr>
                </a:solidFill>
              </a:rPr>
              <a:t>IBM Granite + IBM Bob</a:t>
            </a:r>
            <a:endParaRPr lang="en-IN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739748859"/>
              </p:ext>
            </p:extLst>
          </p:nvPr>
        </p:nvGraphicFramePr>
        <p:xfrm>
          <a:off x="1102321" y="1129724"/>
          <a:ext cx="9394989" cy="5270641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407">
                <a:tc>
                  <a:txBody>
                    <a:bodyPr/>
                    <a:lstStyle/>
                    <a:p>
                      <a:r>
                        <a:rPr sz="1300" dirty="0">
                          <a:latin typeface="Arial"/>
                        </a:rPr>
                        <a:t>Student Name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latin typeface="Arial"/>
                        </a:rPr>
                        <a:t>Recent Passport Photo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latin typeface="Arial"/>
                        </a:rPr>
                        <a:t>Email ID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Arial"/>
                        </a:rPr>
                        <a:t>Mobile number</a:t>
                      </a:r>
                    </a:p>
                    <a:p>
                      <a:r>
                        <a:rPr sz="1300">
                          <a:latin typeface="Arial"/>
                        </a:rPr>
                        <a:t>[WhatsApp]</a:t>
                      </a: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7997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Arial"/>
                        </a:rPr>
                        <a:t>SUHANI CHOKHRA</a:t>
                      </a:r>
                      <a:endParaRPr sz="1300" dirty="0">
                        <a:latin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 dirty="0">
                        <a:latin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Arial"/>
                        </a:rPr>
                        <a:t>maheshwarisuhani110@gmail.com</a:t>
                      </a:r>
                      <a:endParaRPr sz="1300" dirty="0">
                        <a:latin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Arial"/>
                        </a:rPr>
                        <a:t>+91-7733078151</a:t>
                      </a:r>
                      <a:endParaRPr sz="1300" dirty="0">
                        <a:latin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629160"/>
                  </a:ext>
                </a:extLst>
              </a:tr>
              <a:tr h="2117558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Arial"/>
                        </a:rPr>
                        <a:t>MITALI JOSHI</a:t>
                      </a:r>
                      <a:endParaRPr sz="1300" dirty="0">
                        <a:latin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sz="1300" dirty="0">
                        <a:latin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Arial"/>
                        </a:rPr>
                        <a:t>joshimitali2005@gmail.com</a:t>
                      </a:r>
                      <a:endParaRPr sz="1300" dirty="0">
                        <a:latin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Arial"/>
                        </a:rPr>
                        <a:t>+91-9461290932</a:t>
                      </a:r>
                      <a:endParaRPr sz="1300" dirty="0">
                        <a:latin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811029"/>
                  </a:ext>
                </a:extLst>
              </a:tr>
              <a:tr h="697396">
                <a:tc>
                  <a:txBody>
                    <a:bodyPr/>
                    <a:lstStyle/>
                    <a:p>
                      <a:endParaRPr sz="1400" dirty="0">
                        <a:latin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 dirty="0">
                        <a:latin typeface="Arial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 dirty="0">
                        <a:latin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 dirty="0">
                        <a:latin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610654" y="668059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latin typeface="Arial"/>
              </a:defRPr>
            </a:pPr>
            <a:r>
              <a:t>Domain of Project – Environmental Sustainability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610654" y="255570"/>
            <a:ext cx="105860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 b="1">
                <a:latin typeface="Arial"/>
              </a:defRPr>
            </a:pPr>
            <a:r>
              <a:rPr dirty="0"/>
              <a:t>Project Title – </a:t>
            </a:r>
            <a:r>
              <a:rPr dirty="0" err="1"/>
              <a:t>EcoGuard</a:t>
            </a:r>
            <a:r>
              <a:rPr dirty="0"/>
              <a:t> Gujarat: AI-Powered Industrial Pollution Intelligence Platform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DC961-C5AA-47C4-A900-7E0424BEE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381" y="1781716"/>
            <a:ext cx="1748503" cy="16139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BF7742-1172-964B-DFDD-952888414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6381" y="3884495"/>
            <a:ext cx="2009160" cy="14883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1" y="123618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defRPr sz="1700" b="0">
                <a:latin typeface="Arial"/>
              </a:defRPr>
            </a:pPr>
            <a:r>
              <a:rPr dirty="0"/>
              <a:t>The Challenge</a:t>
            </a:r>
            <a:br>
              <a:rPr dirty="0"/>
            </a:br>
            <a:r>
              <a:rPr dirty="0"/>
              <a:t>Industrial zones along Gujarat’s Golden Corridor (Vapi–</a:t>
            </a:r>
            <a:r>
              <a:rPr dirty="0" err="1"/>
              <a:t>Ankleshwar</a:t>
            </a:r>
            <a:r>
              <a:rPr dirty="0"/>
              <a:t>–</a:t>
            </a:r>
            <a:r>
              <a:rPr dirty="0" err="1"/>
              <a:t>Vatva</a:t>
            </a:r>
            <a:r>
              <a:rPr dirty="0"/>
              <a:t>) face significant air and water pollution from chemical and manufacturing activity. Pollution data can be fragmented, while abnormal readings and compliance violations may be difficult to prioritize.</a:t>
            </a:r>
            <a:br>
              <a:rPr dirty="0"/>
            </a:br>
            <a:br>
              <a:rPr dirty="0"/>
            </a:br>
            <a:r>
              <a:rPr dirty="0"/>
              <a:t>The Objective</a:t>
            </a:r>
            <a:br>
              <a:rPr dirty="0"/>
            </a:br>
            <a:r>
              <a:rPr dirty="0"/>
              <a:t>Build an agentic pollution-intelligence platform that continuously monitors industrial pollution, detects anomalies and violations, assesses risk, and supports timely regulatory action.</a:t>
            </a:r>
            <a:br>
              <a:rPr dirty="0"/>
            </a:br>
            <a:br>
              <a:rPr dirty="0"/>
            </a:br>
            <a:r>
              <a:rPr dirty="0"/>
              <a:t>Key Requirements</a:t>
            </a:r>
            <a:br>
              <a:rPr dirty="0"/>
            </a:br>
            <a:r>
              <a:rPr dirty="0"/>
              <a:t>• Multi-pollutant monitoring: air, water, industrial emissions, noise and waste.</a:t>
            </a:r>
            <a:br>
              <a:rPr dirty="0"/>
            </a:br>
            <a:r>
              <a:rPr dirty="0"/>
              <a:t>• District/factory/hotspot visibility through an interactive Gujarat Map.</a:t>
            </a:r>
            <a:br>
              <a:rPr dirty="0"/>
            </a:br>
            <a:r>
              <a:rPr dirty="0"/>
              <a:t>• Automatic anomaly and violation prioritization.</a:t>
            </a:r>
            <a:br>
              <a:rPr dirty="0"/>
            </a:br>
            <a:r>
              <a:rPr dirty="0"/>
              <a:t>• Actionable alerts, risk scoring and explainable AI insights.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1" y="704088"/>
            <a:ext cx="9406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>
                <a:latin typeface="Arial"/>
              </a:defRPr>
            </a:pPr>
            <a:r>
              <a:rPr dirty="0"/>
              <a:t>Problem Statement – Smart Industrial Pollution Monitoring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defRPr sz="1700" b="0">
                <a:latin typeface="Arial"/>
              </a:defRPr>
            </a:pPr>
            <a:r>
              <a:t>EcoGuard Gujarat is a web-based multi-agent pollution intelligence platform that converts pollution readings into decisions and actions.</a:t>
            </a:r>
            <a:br/>
            <a:br/>
            <a:r>
              <a:t>Core Solution</a:t>
            </a:r>
            <a:br/>
            <a:r>
              <a:t>• Unified dashboard for pollution score, factories, violations, anomalies, alerts and incidents.</a:t>
            </a:r>
            <a:br/>
            <a:r>
              <a:t>• Interactive Gujarat Map for district, factory and hotspot-level intelligence.</a:t>
            </a:r>
            <a:br/>
            <a:r>
              <a:t>• Specialized AI agents analyze readings, detect unusual patterns, classify compliance risk and generate recommendations.</a:t>
            </a:r>
            <a:br/>
            <a:r>
              <a:t>• Role-based monitoring for administrators, regulators, officers and citizen-facing views.</a:t>
            </a:r>
            <a:br/>
            <a:r>
              <a:t>• Demo-ready architecture that can later connect to live sensor and government data streams.</a:t>
            </a:r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Proposed Solution – EcoGuard Gujarat</a:t>
            </a:r>
            <a:endParaRPr lang="en-IN" sz="2400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A011A-73D5-A213-C7CF-E6D84448E0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11870" r="-1250" b="10407"/>
          <a:stretch>
            <a:fillRect/>
          </a:stretch>
        </p:blipFill>
        <p:spPr>
          <a:xfrm>
            <a:off x="3517156" y="3949701"/>
            <a:ext cx="6059331" cy="261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5506A4-DB79-11B5-4749-9C27E39DB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7" t="12083" r="1280" b="6667"/>
          <a:stretch>
            <a:fillRect/>
          </a:stretch>
        </p:blipFill>
        <p:spPr>
          <a:xfrm>
            <a:off x="513204" y="221639"/>
            <a:ext cx="10774227" cy="574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6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50551-2A20-8A93-AE61-366A58C6C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445" y="555894"/>
            <a:ext cx="7779166" cy="533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6EA78-F532-E3ED-E777-3E060755B2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70" b="10107"/>
          <a:stretch>
            <a:fillRect/>
          </a:stretch>
        </p:blipFill>
        <p:spPr>
          <a:xfrm>
            <a:off x="186813" y="403123"/>
            <a:ext cx="11679354" cy="515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18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771C6A-3975-9072-F0F0-AB1022857A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1613" r="-887" b="7528"/>
          <a:stretch>
            <a:fillRect/>
          </a:stretch>
        </p:blipFill>
        <p:spPr>
          <a:xfrm>
            <a:off x="668593" y="1297858"/>
            <a:ext cx="10468216" cy="471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4B0C9F-6422-D3E0-3D99-B2465D88C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00" b="9677"/>
          <a:stretch>
            <a:fillRect/>
          </a:stretch>
        </p:blipFill>
        <p:spPr>
          <a:xfrm>
            <a:off x="523789" y="865239"/>
            <a:ext cx="11144422" cy="49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7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EA206F-CCF0-7F28-0767-4816AB59D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30" b="14122"/>
          <a:stretch>
            <a:fillRect/>
          </a:stretch>
        </p:blipFill>
        <p:spPr>
          <a:xfrm>
            <a:off x="0" y="845574"/>
            <a:ext cx="12192000" cy="504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0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731D91-6D51-2ADE-0FFD-4D21D517A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75" b="10208"/>
          <a:stretch>
            <a:fillRect/>
          </a:stretch>
        </p:blipFill>
        <p:spPr>
          <a:xfrm>
            <a:off x="0" y="814388"/>
            <a:ext cx="1219200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386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73A74A-B196-ED18-B6D7-EE2637BB63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83" r="1171" b="8861"/>
          <a:stretch>
            <a:fillRect/>
          </a:stretch>
        </p:blipFill>
        <p:spPr>
          <a:xfrm>
            <a:off x="84880" y="625033"/>
            <a:ext cx="11843716" cy="533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896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195010-C60E-5AF3-D017-087ACC8759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2320" r="1" b="7848"/>
          <a:stretch>
            <a:fillRect/>
          </a:stretch>
        </p:blipFill>
        <p:spPr>
          <a:xfrm>
            <a:off x="0" y="532435"/>
            <a:ext cx="12192000" cy="547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41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6F7E3-F443-D550-F8CB-982914DB4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15" b="6835"/>
          <a:stretch>
            <a:fillRect/>
          </a:stretch>
        </p:blipFill>
        <p:spPr>
          <a:xfrm>
            <a:off x="-15433" y="639501"/>
            <a:ext cx="12192000" cy="557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09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A4EB6C-0DD6-AF84-34DA-2663EFCD8C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983" b="23713"/>
          <a:stretch>
            <a:fillRect/>
          </a:stretch>
        </p:blipFill>
        <p:spPr>
          <a:xfrm>
            <a:off x="0" y="726311"/>
            <a:ext cx="12192000" cy="540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34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347C00-6202-09E3-F6D0-4FA374537D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21" b="6667"/>
          <a:stretch>
            <a:fillRect/>
          </a:stretch>
        </p:blipFill>
        <p:spPr>
          <a:xfrm>
            <a:off x="1473693" y="1820119"/>
            <a:ext cx="9170633" cy="399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7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86B2B-E86B-18F2-68DD-54DA64BB75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51" b="7174"/>
          <a:stretch>
            <a:fillRect/>
          </a:stretch>
        </p:blipFill>
        <p:spPr>
          <a:xfrm>
            <a:off x="1372892" y="1580225"/>
            <a:ext cx="8587854" cy="472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170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2F5BE-202D-E907-74D0-CC31EF246D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78" r="1362" b="6442"/>
          <a:stretch>
            <a:fillRect/>
          </a:stretch>
        </p:blipFill>
        <p:spPr>
          <a:xfrm>
            <a:off x="509286" y="803813"/>
            <a:ext cx="10926501" cy="551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73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A0D13F-C413-E5D9-4E65-DEC47E11A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21" b="7173"/>
          <a:stretch>
            <a:fillRect/>
          </a:stretch>
        </p:blipFill>
        <p:spPr>
          <a:xfrm>
            <a:off x="439838" y="668438"/>
            <a:ext cx="10868628" cy="55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94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8F0744-FE7E-B367-212C-2B8A7FBE27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46" b="6667"/>
          <a:stretch>
            <a:fillRect/>
          </a:stretch>
        </p:blipFill>
        <p:spPr>
          <a:xfrm>
            <a:off x="806369" y="532436"/>
            <a:ext cx="10579261" cy="560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63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586CF-81FD-3813-8890-0C8265699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5" t="12321" b="4641"/>
          <a:stretch>
            <a:fillRect/>
          </a:stretch>
        </p:blipFill>
        <p:spPr>
          <a:xfrm>
            <a:off x="775504" y="465881"/>
            <a:ext cx="10232020" cy="569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50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A23B-8A63-3F86-5019-DFE93878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7ACAB-20D7-3BCD-F5B2-68C3D45423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47" b="9198"/>
          <a:stretch>
            <a:fillRect/>
          </a:stretch>
        </p:blipFill>
        <p:spPr>
          <a:xfrm>
            <a:off x="115748" y="138896"/>
            <a:ext cx="5856790" cy="6296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6C1040-EDED-BCC5-685B-DF1B651FB0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32" t="12658" r="2595" b="7173"/>
          <a:stretch>
            <a:fillRect/>
          </a:stretch>
        </p:blipFill>
        <p:spPr>
          <a:xfrm>
            <a:off x="6219464" y="253603"/>
            <a:ext cx="5698603" cy="606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7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D0B4B-BA04-D9E2-EF25-68BCF038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5B614-6004-E1E9-DE9F-33A8378495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321" b="9367"/>
          <a:stretch>
            <a:fillRect/>
          </a:stretch>
        </p:blipFill>
        <p:spPr>
          <a:xfrm>
            <a:off x="925976" y="578734"/>
            <a:ext cx="10058400" cy="537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93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E7E324-3092-F3C8-F07C-3D72EE9671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74"/>
          <a:stretch>
            <a:fillRect/>
          </a:stretch>
        </p:blipFill>
        <p:spPr>
          <a:xfrm>
            <a:off x="2268638" y="335317"/>
            <a:ext cx="7662439" cy="582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47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92BD-62C6-B7D9-4B7E-CDB47CC30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22F69-39E6-DAAD-CBDC-EDFEE54BE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39" y="438933"/>
            <a:ext cx="11093580" cy="598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954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99F3-C164-52CA-91A1-BF6DB417A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3A687E-9BB4-933E-570E-6B4FE2726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89" b="7848"/>
          <a:stretch>
            <a:fillRect/>
          </a:stretch>
        </p:blipFill>
        <p:spPr>
          <a:xfrm>
            <a:off x="1412112" y="697374"/>
            <a:ext cx="8657863" cy="54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4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 sz="1700" b="0">
                <a:latin typeface="Arial"/>
              </a:defRPr>
            </a:pPr>
            <a:r>
              <a:t>• IBM Bob – AI-assisted software development and agentic application generation.</a:t>
            </a:r>
            <a:br/>
            <a:r>
              <a:t>• IBM Granite – LLM reasoning, summarization, explanations and recommendations.</a:t>
            </a:r>
            <a:br/>
            <a:r>
              <a:t>• React + TypeScript – responsive web interface and dashboards.</a:t>
            </a:r>
            <a:br/>
            <a:r>
              <a:t>• Python + FastAPI – backend services and REST APIs.</a:t>
            </a:r>
            <a:br/>
            <a:r>
              <a:t>• Leaflet – interactive Gujarat pollution map and hotspot visualization.</a:t>
            </a:r>
            <a:br/>
            <a:r>
              <a:t>• REST/JSON APIs – communication between frontend, backend and intelligence services.</a:t>
            </a:r>
            <a:br/>
            <a:r>
              <a:t>• Local database + seeded/demo data – supports the working demonstration and can be replaced by live streams.</a:t>
            </a:r>
            <a:br/>
            <a:br/>
            <a:r>
              <a:t>Design principle: modular agents + shared services + explainable outputs.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sz="2400" b="1">
                <a:latin typeface="Arial"/>
              </a:defRPr>
            </a:pPr>
            <a:r>
              <a:t>Agents / Components Used</a:t>
            </a:r>
            <a:endParaRPr sz="2400" b="1"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537590" y="1091787"/>
            <a:ext cx="112851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 b="0">
                <a:latin typeface="Arial"/>
              </a:defRPr>
            </a:pPr>
            <a:r>
              <a:rPr dirty="0"/>
              <a:t>1) Emission &amp; Effluent Monitoring Agent – monitors pollution parameters and identifies abnormal readings.</a:t>
            </a:r>
            <a:br>
              <a:rPr dirty="0"/>
            </a:br>
            <a:br>
              <a:rPr dirty="0"/>
            </a:br>
            <a:r>
              <a:rPr dirty="0"/>
              <a:t>2) Violation &amp; Compliance Agent – detects threshold/compliance violations and prioritizes cases.</a:t>
            </a:r>
            <a:br>
              <a:rPr dirty="0"/>
            </a:br>
            <a:br>
              <a:rPr dirty="0"/>
            </a:br>
            <a:r>
              <a:rPr dirty="0"/>
              <a:t>3) Regulatory Alert &amp; Escalation Agent – turns high-risk findings into actionable alerts and escalation paths.</a:t>
            </a:r>
            <a:br>
              <a:rPr dirty="0"/>
            </a:br>
            <a:br>
              <a:rPr dirty="0"/>
            </a:br>
            <a:r>
              <a:rPr dirty="0"/>
              <a:t>4) Public Health Risk Assessment Agent – interprets severity and potential community risk.</a:t>
            </a:r>
            <a:br>
              <a:rPr dirty="0"/>
            </a:br>
            <a:br>
              <a:rPr dirty="0"/>
            </a:br>
            <a:r>
              <a:rPr dirty="0"/>
              <a:t>5) Industrial Pollution Dashboard Agent – coordinates KPIs, maps, incidents and decision summaries.</a:t>
            </a:r>
            <a:endParaRPr lang="en-US" dirty="0"/>
          </a:p>
          <a:p>
            <a:pPr>
              <a:defRPr sz="1600" b="0">
                <a:latin typeface="Arial"/>
              </a:defRPr>
            </a:pPr>
            <a:endParaRPr lang="en-US" dirty="0"/>
          </a:p>
          <a:p>
            <a:pPr>
              <a:defRPr sz="1600" b="0">
                <a:latin typeface="Arial"/>
              </a:defRPr>
            </a:pPr>
            <a:br>
              <a:rPr dirty="0"/>
            </a:br>
            <a:br>
              <a:rPr dirty="0"/>
            </a:br>
            <a:endParaRPr lang="en-US" dirty="0"/>
          </a:p>
          <a:p>
            <a:pPr>
              <a:defRPr sz="1600" b="0">
                <a:latin typeface="Arial"/>
              </a:defRPr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AC055-0E6A-3636-1AEF-7FDE061A5A62}"/>
              </a:ext>
            </a:extLst>
          </p:cNvPr>
          <p:cNvSpPr txBox="1"/>
          <p:nvPr/>
        </p:nvSpPr>
        <p:spPr>
          <a:xfrm>
            <a:off x="537590" y="3429000"/>
            <a:ext cx="1069450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/>
              <a:t>6</a:t>
            </a:r>
            <a:r>
              <a:rPr lang="en-US" sz="1600" dirty="0"/>
              <a:t>) Anomaly Detection Agent/Module – Identifies unusual pollution patterns and detects abnormal sensor readings.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7) Pollution Forecasting / Prediction Agent – Analyses historical pollution data to forecast future pollution levels and emerging risks.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8) Citizen Assistant / Pollution Chat Agent – Provides citizens with pollution information, answers queries, and offers guidance based on environmental conditions. 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9) Incident Management Agent/Module – Tracks pollution incidents, manages reported cases, and supports timely response and resolution.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sz="2400" b="1">
                <a:latin typeface="Arial"/>
              </a:defRPr>
            </a:pPr>
            <a:r>
              <a:t>Agentic AI Workflow</a:t>
            </a:r>
            <a:endParaRPr sz="2400" b="1">
              <a:sym typeface="Times New Roman"/>
            </a:endParaRPr>
          </a:p>
        </p:txBody>
      </p:sp>
      <p:pic>
        <p:nvPicPr>
          <p:cNvPr id="3" name="Picture 2" descr="ecoguard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78" y="885824"/>
            <a:ext cx="10300237" cy="494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defRPr sz="2400" b="1">
                <a:latin typeface="Arial"/>
              </a:defRPr>
            </a:pPr>
            <a:r>
              <a:t>Architecture Blueprint</a:t>
            </a:r>
            <a:endParaRPr lang="en-US" sz="2400"/>
          </a:p>
        </p:txBody>
      </p:sp>
      <p:pic>
        <p:nvPicPr>
          <p:cNvPr id="3" name="Picture 2" descr="ecoguard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09" y="915723"/>
            <a:ext cx="10654350" cy="574349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Role of Agentic AI in the Solution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727655"/>
            <a:ext cx="10987616" cy="6036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700" b="0">
                <a:latin typeface="Arial"/>
              </a:defRPr>
            </a:pPr>
            <a:r>
              <a:rPr sz="2000" dirty="0" err="1"/>
              <a:t>EcoGuard</a:t>
            </a:r>
            <a:r>
              <a:rPr sz="2000" dirty="0"/>
              <a:t> Gujarat uses Agentic AI to move beyond a static monitoring dashboard.</a:t>
            </a:r>
            <a:br>
              <a:rPr sz="2000" dirty="0"/>
            </a:br>
            <a:br>
              <a:rPr sz="2000" dirty="0"/>
            </a:br>
            <a:r>
              <a:rPr sz="2000" dirty="0"/>
              <a:t>• Goal-driven analysis – agents inspect pollution data against rules, patterns and risk criteria.</a:t>
            </a:r>
            <a:br>
              <a:rPr sz="2000" dirty="0"/>
            </a:br>
            <a:r>
              <a:rPr sz="2000" dirty="0"/>
              <a:t>• Multi-agent collaboration – monitoring, compliance, risk and alerting functions work as specialized modules.</a:t>
            </a:r>
            <a:br>
              <a:rPr sz="2000" dirty="0"/>
            </a:br>
            <a:r>
              <a:rPr sz="2000" dirty="0"/>
              <a:t>• Context-aware decisions – abnormal readings can be combined with factory, location, severity and historical context.</a:t>
            </a:r>
            <a:br>
              <a:rPr sz="2000" dirty="0"/>
            </a:br>
            <a:r>
              <a:rPr sz="2000" dirty="0"/>
              <a:t>• Explainable outputs – IBM Granite can turn technical findings into concise reasons and recommended actions.</a:t>
            </a:r>
            <a:br>
              <a:rPr sz="2000" dirty="0"/>
            </a:br>
            <a:r>
              <a:rPr sz="2000" dirty="0"/>
              <a:t>• Proactive response – high-risk findings are surfaced as alerts instead of waiting for manual inspection.</a:t>
            </a:r>
            <a:br>
              <a:rPr sz="2000" dirty="0"/>
            </a:br>
            <a:r>
              <a:rPr sz="2000" dirty="0"/>
              <a:t>• Human-in-the-loop operations – regulators and officers remain responsible for final regulatory action.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  <a:defRPr sz="2400" b="1">
                <a:latin typeface="Arial"/>
              </a:defRPr>
            </a:pPr>
            <a:r>
              <a:t>Implementation &amp; Token Usage</a:t>
            </a:r>
            <a:endParaRPr sz="2400" b="1"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10675176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1600" b="0">
                <a:latin typeface="Arial"/>
              </a:defRPr>
            </a:pPr>
            <a:r>
              <a:rPr dirty="0"/>
              <a:t>IBM Bob usage is session-dependent. Development was completed in targeted stages so later changes could reuse the existing application rather than rebuilding the platform.</a:t>
            </a:r>
            <a:br>
              <a:rPr dirty="0"/>
            </a:br>
            <a:br>
              <a:rPr dirty="0"/>
            </a:br>
            <a:r>
              <a:rPr dirty="0"/>
              <a:t>Optimization approach</a:t>
            </a:r>
            <a:br>
              <a:rPr dirty="0"/>
            </a:br>
            <a:r>
              <a:rPr dirty="0"/>
              <a:t>• Reuse existing components and APIs.</a:t>
            </a:r>
            <a:br>
              <a:rPr dirty="0"/>
            </a:br>
            <a:r>
              <a:rPr dirty="0"/>
              <a:t>• Make targeted code changes.</a:t>
            </a:r>
            <a:br>
              <a:rPr dirty="0"/>
            </a:br>
            <a:r>
              <a:rPr dirty="0"/>
              <a:t>• Avoid unnecessary UI redesign.</a:t>
            </a:r>
            <a:br>
              <a:rPr dirty="0"/>
            </a:br>
            <a:r>
              <a:rPr dirty="0"/>
              <a:t>• Keep backend and frontend structure stable where possible.</a:t>
            </a:r>
            <a:br>
              <a:rPr dirty="0"/>
            </a:br>
            <a:br>
              <a:rPr dirty="0"/>
            </a:br>
            <a:r>
              <a:rPr dirty="0"/>
              <a:t>The screenshots show IBM Bob development iterations used to build and refine the working platform.</a:t>
            </a:r>
          </a:p>
        </p:txBody>
      </p:sp>
      <p:pic>
        <p:nvPicPr>
          <p:cNvPr id="279" name="Picture 278" descr="29e0b182-b256-4dd5-a8bc-8264d86c68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09" y="3736258"/>
            <a:ext cx="5486400" cy="2880360"/>
          </a:xfrm>
          <a:prstGeom prst="rect">
            <a:avLst/>
          </a:prstGeom>
        </p:spPr>
      </p:pic>
      <p:pic>
        <p:nvPicPr>
          <p:cNvPr id="280" name="Picture 279" descr="27fd8c55-2cc3-4178-954e-3d4b22c793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980" y="3736258"/>
            <a:ext cx="5486400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93123" y="1354492"/>
            <a:ext cx="1120575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700" b="0">
                <a:latin typeface="Arial"/>
              </a:defRPr>
            </a:pPr>
            <a:r>
              <a:rPr sz="1800" b="1" dirty="0"/>
              <a:t>Multi-pollutant intelligence </a:t>
            </a:r>
            <a:r>
              <a:rPr sz="1800" dirty="0"/>
              <a:t>– air, water, industrial emissions, noise and waste are represented in one system.</a:t>
            </a:r>
            <a:endParaRPr lang="en-US" sz="1800" dirty="0"/>
          </a:p>
          <a:p>
            <a:pPr>
              <a:defRPr sz="1700" b="0">
                <a:latin typeface="Arial"/>
              </a:defRPr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  <a:defRPr sz="1700" b="0">
                <a:latin typeface="Arial"/>
              </a:defRPr>
            </a:pPr>
            <a:r>
              <a:rPr lang="en-US" sz="1800" b="1" dirty="0"/>
              <a:t>Multi-agent architecture </a:t>
            </a:r>
            <a:r>
              <a:rPr lang="en-US" sz="1800" dirty="0"/>
              <a:t>– specialized agents handle monitoring, compliance, risk assessment and alerts.</a:t>
            </a:r>
          </a:p>
          <a:p>
            <a:pPr>
              <a:defRPr sz="1700" b="0">
                <a:latin typeface="Arial"/>
              </a:defRPr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  <a:defRPr sz="1700" b="0">
                <a:latin typeface="Arial"/>
              </a:defRPr>
            </a:pPr>
            <a:r>
              <a:rPr lang="en-US" sz="1800" b="1" dirty="0"/>
              <a:t>Unified risk view </a:t>
            </a:r>
            <a:r>
              <a:rPr lang="en-US" sz="1800" dirty="0"/>
              <a:t>– pollution score, violations, anomalies, alerts and incidents support faster prioritization.</a:t>
            </a:r>
          </a:p>
          <a:p>
            <a:pPr>
              <a:defRPr sz="1700" b="0">
                <a:latin typeface="Arial"/>
              </a:defRPr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  <a:defRPr sz="1700" b="0">
                <a:latin typeface="Arial"/>
              </a:defRPr>
            </a:pPr>
            <a:r>
              <a:rPr lang="en-US" sz="1800" b="1" dirty="0"/>
              <a:t>Geospatial intelligence </a:t>
            </a:r>
            <a:r>
              <a:rPr lang="en-US" sz="1800" dirty="0"/>
              <a:t>– the Gujarat Map connects pollution severity with districts, factories and hotspots.</a:t>
            </a:r>
          </a:p>
          <a:p>
            <a:pPr>
              <a:defRPr sz="1700" b="0">
                <a:latin typeface="Arial"/>
              </a:defRPr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  <a:defRPr sz="1700" b="0">
                <a:latin typeface="Arial"/>
              </a:defRPr>
            </a:pPr>
            <a:r>
              <a:rPr lang="en-US" sz="1800" b="1" dirty="0"/>
              <a:t>Explainable actions </a:t>
            </a:r>
            <a:r>
              <a:rPr lang="en-US" sz="1800" dirty="0"/>
              <a:t>– AI insights address what happened, why it matters and what should be checked next.</a:t>
            </a:r>
          </a:p>
          <a:p>
            <a:pPr>
              <a:defRPr sz="1700" b="0">
                <a:latin typeface="Arial"/>
              </a:defRPr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  <a:defRPr sz="1700" b="0">
                <a:latin typeface="Arial"/>
              </a:defRPr>
            </a:pPr>
            <a:r>
              <a:rPr lang="en-US" sz="1800" b="1" dirty="0"/>
              <a:t>Scalable foundation </a:t>
            </a:r>
            <a:r>
              <a:rPr lang="en-US" sz="1800" dirty="0"/>
              <a:t>– demo data can be replaced with live sensor/API streams without changing the overall user experience.</a:t>
            </a:r>
            <a:br>
              <a:rPr lang="en-US" sz="1800" dirty="0"/>
            </a:br>
            <a:br>
              <a:rPr sz="1800" dirty="0"/>
            </a:br>
            <a:br>
              <a:rPr sz="1800" dirty="0"/>
            </a:b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sz="2400" b="1">
                <a:latin typeface="Arial"/>
              </a:defRPr>
            </a:pPr>
            <a:r>
              <a:rPr dirty="0"/>
              <a:t>GitHub Link &amp; Submission Package</a:t>
            </a:r>
            <a:endParaRPr sz="2400" b="1" dirty="0">
              <a:sym typeface="Times New Roma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FC02FF-5B7A-9264-541B-3EF0CD5A233C}"/>
              </a:ext>
            </a:extLst>
          </p:cNvPr>
          <p:cNvSpPr txBox="1"/>
          <p:nvPr/>
        </p:nvSpPr>
        <p:spPr>
          <a:xfrm>
            <a:off x="1218724" y="1576137"/>
            <a:ext cx="91524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GITHUB </a:t>
            </a:r>
            <a:r>
              <a:rPr lang="en-US" sz="1800" dirty="0">
                <a:hlinkClick r:id="rId3" action="ppaction://hlinkfile"/>
              </a:rPr>
              <a:t>URL:-</a:t>
            </a:r>
            <a:r>
              <a:rPr lang="en-US" sz="1800" dirty="0"/>
              <a:t>   </a:t>
            </a:r>
            <a:r>
              <a:rPr lang="en-US" sz="1800" dirty="0">
                <a:hlinkClick r:id="rId4"/>
              </a:rPr>
              <a:t>https://github.com/suhani36078/EcoGuard-Gujarat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67D79E-9A0E-FE32-AAA5-0456C6D4D2A7}"/>
              </a:ext>
            </a:extLst>
          </p:cNvPr>
          <p:cNvSpPr txBox="1"/>
          <p:nvPr/>
        </p:nvSpPr>
        <p:spPr>
          <a:xfrm>
            <a:off x="3875714" y="1551963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935C9B0-B058-57FB-DD38-E3AC5160DF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96" t="16400" r="9996" b="6135"/>
          <a:stretch>
            <a:fillRect/>
          </a:stretch>
        </p:blipFill>
        <p:spPr>
          <a:xfrm>
            <a:off x="1218724" y="1124746"/>
            <a:ext cx="9754552" cy="531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  <a:defRPr sz="2400" b="1">
                <a:latin typeface="Arial"/>
              </a:defRPr>
            </a:pPr>
            <a:r>
              <a:t>Future Scope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10195510" cy="3119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  <a:defRPr sz="1600" b="0">
                <a:latin typeface="Arial"/>
              </a:defRPr>
            </a:pPr>
            <a:r>
              <a:rPr dirty="0"/>
              <a:t>1. Live Sensor &amp; Government Data Integration – connect verified GPCB/CPCB/IoT streams for continuous monitoring.</a:t>
            </a:r>
            <a:br>
              <a:rPr dirty="0"/>
            </a:br>
            <a:r>
              <a:rPr dirty="0"/>
              <a:t>2. Gujarati Voice &amp; Citizen Reporting – enable multilingual text/voice pollution complaints.</a:t>
            </a:r>
            <a:br>
              <a:rPr dirty="0"/>
            </a:br>
            <a:br>
              <a:rPr dirty="0"/>
            </a:br>
            <a:r>
              <a:rPr dirty="0"/>
              <a:t>3. Predictive Compliance – forecast likely violations and recommend preventive inspections.</a:t>
            </a:r>
            <a:br>
              <a:rPr dirty="0"/>
            </a:br>
            <a:br>
              <a:rPr dirty="0"/>
            </a:br>
            <a:r>
              <a:rPr dirty="0"/>
              <a:t>4. Satellite &amp; Remote-Sensing Layer – add geospatial evidence for industrial zones and hotspot validation.</a:t>
            </a:r>
            <a:br>
              <a:rPr dirty="0"/>
            </a:br>
            <a:br>
              <a:rPr dirty="0"/>
            </a:br>
            <a:r>
              <a:rPr dirty="0"/>
              <a:t>5. Automated Regulatory Workflow – route alerts to responsible authorities and track acknowledgements.</a:t>
            </a:r>
            <a:br>
              <a:rPr dirty="0"/>
            </a:br>
            <a:br>
              <a:rPr dirty="0"/>
            </a:br>
            <a:r>
              <a:rPr dirty="0"/>
              <a:t>6. Cloud Deployment &amp; Scaling – support statewide monitoring with secure role-based access and audit logs.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Certificates Earned: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2000" b="1">
                <a:latin typeface="Arial"/>
              </a:defRPr>
            </a:pPr>
            <a:r>
              <a:t>Add your Credly / IBM SkillsBuild certificate screenshot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25C97-AEF3-19FC-0C2C-170C51BA6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678" y="1213281"/>
            <a:ext cx="7064541" cy="530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Certificates Earned: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 sz="2000" b="1">
                <a:latin typeface="Arial"/>
              </a:defRPr>
            </a:pPr>
            <a:r>
              <a:t>Add your IBM BOB certificate screenshot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43A83-75CF-786A-4E23-20A747A7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453" y="1458117"/>
            <a:ext cx="7647572" cy="462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TextBox 310"/>
          <p:cNvSpPr txBox="1"/>
          <p:nvPr/>
        </p:nvSpPr>
        <p:spPr>
          <a:xfrm>
            <a:off x="1371600" y="5166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latin typeface="Arial"/>
              </a:defRPr>
            </a:pPr>
            <a:r>
              <a:t>EcoGuard Gujarat • Agentic AI for Industrial Pollution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Microsoft Office PowerPoint</Application>
  <PresentationFormat>Widescreen</PresentationFormat>
  <Paragraphs>59</Paragraphs>
  <Slides>38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Times New Roman</vt:lpstr>
      <vt:lpstr>Office Theme</vt:lpstr>
      <vt:lpstr>EcoGuard Gujarat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suhani chokhra</cp:lastModifiedBy>
  <cp:revision>16</cp:revision>
  <dcterms:created xsi:type="dcterms:W3CDTF">2025-07-08T05:06:56Z</dcterms:created>
  <dcterms:modified xsi:type="dcterms:W3CDTF">2026-09-05T17:56:47Z</dcterms:modified>
</cp:coreProperties>
</file>